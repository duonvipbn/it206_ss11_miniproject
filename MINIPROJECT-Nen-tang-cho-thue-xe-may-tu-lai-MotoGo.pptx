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Noto Sans Bold"/>
      <p:regular r:id="rId201315"/>
    </p:embeddedFont>
    <p:embeddedFont>
      <p:font typeface="Noto Sans"/>
      <p:regular r:id="rId201316"/>
    </p:embeddedFont>
    <p:embeddedFont>
      <p:font typeface="Noto Sans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64835"/>
            <a:ext cx="711182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spc="128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SCRUM MINIPROJECT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2362527"/>
            <a:ext cx="6502237" cy="2090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MINIPROJECT:</a:t>
            </a:r>
            <a:endParaRPr lang="en-US" sz="5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Nền tảng cho thuê xe máy tự lái MotoGo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09585" y="4664869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934490"/>
            <a:ext cx="711182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spc="3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Scrum Team: Product Owner, Scrum Master, Development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60834"/>
            <a:ext cx="153130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01 · EPICS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66029"/>
            <a:ext cx="6705432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Ba Epic biến nhu cầu thuê xe thành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trải nghiệm liền mạch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489545"/>
            <a:ext cx="1333467" cy="177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2934990"/>
            <a:ext cx="3962301" cy="3923010"/>
          </a:xfrm>
          <a:prstGeom prst="roundRect">
            <a:avLst>
              <a:gd name="adj" fmla="val 3108"/>
            </a:avLst>
          </a:prstGeom>
          <a:solidFill>
            <a:srgbClr val="15206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749477"/>
            <a:ext cx="406390" cy="40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4267954"/>
            <a:ext cx="274313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Epic 1 — Tìm và đặt nhanh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9585" y="5213096"/>
            <a:ext cx="274313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Tìm kiếm, lọc, giữ chỗ và đặt cọc; mục tiêu hoàn tất dưới 5 phút.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114697" y="2934990"/>
            <a:ext cx="3962301" cy="3923010"/>
          </a:xfrm>
          <a:prstGeom prst="roundRect">
            <a:avLst>
              <a:gd name="adj" fmla="val 3108"/>
            </a:avLst>
          </a:prstGeom>
          <a:solidFill>
            <a:srgbClr val="15206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82" y="3749477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4282" y="4267954"/>
            <a:ext cx="274313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Epic 2 — Vận hành kho và đơn thuê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4724282" y="5213096"/>
            <a:ext cx="274313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Quản lý kho, xác nhận đơn; tránh trùng lịch và mở rộng tối thiểu 30 cửa hàng.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229394" y="2934990"/>
            <a:ext cx="3962301" cy="3923010"/>
          </a:xfrm>
          <a:prstGeom prst="roundRect">
            <a:avLst>
              <a:gd name="adj" fmla="val 3108"/>
            </a:avLst>
          </a:prstGeom>
          <a:solidFill>
            <a:srgbClr val="15206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79" y="3609280"/>
            <a:ext cx="40639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38979" y="4127758"/>
            <a:ext cx="274313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Epic 3 — Bàn giao minh bạch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8838979" y="5072900"/>
            <a:ext cx="274313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Biên bản giao nhận trực tuyến, xử lý phát sinh và tất toán; giảm tranh chấp dưới 3%.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0"/>
            <a:ext cx="812680" cy="2757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60834"/>
            <a:ext cx="230072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 · USER STORIES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45404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8 User Story tạo nên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luồng nghiệp vụ cốt lõi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844377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Một chuỗi từ tìm kiếm, giữ chỗ đến bàn giao và đối chiếu.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381587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878181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Tìm kiếm xe theo thời gian và địa điểm.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81310" y="2381587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81310" y="2878181"/>
            <a:ext cx="228594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Giữ chỗ xe trong 30 phút.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2" y="2381587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4442" y="2878181"/>
            <a:ext cx="228594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Xem chi tiết xe và tổng chi phí dự kiến.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67573" y="2381587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67573" y="2878181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Chủ cửa hàng khai báo kho xe và ảnh thực tế.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585" y="4550212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585" y="5046805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Xem lịch tuần để tránh trùng đơn.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81310" y="4550212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81310" y="5046805"/>
            <a:ext cx="228594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Xác nhận hoặc từ chối đơn trong 15 phút.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4442" y="4550212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2" y="5046805"/>
            <a:ext cx="228594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Bàn giao với tối thiểu 6 ảnh, km và mức xăng.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67573" y="4550212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67573" y="5046805"/>
            <a:ext cx="25145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Nhận lại, đối chiếu và ghi nhận phí phát sinh.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46366" y="2368252"/>
            <a:ext cx="12700" cy="1940024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9498" y="2368252"/>
            <a:ext cx="12700" cy="1940024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3" name="Shape 21"/>
          <p:cNvSpPr/>
          <p:nvPr/>
        </p:nvSpPr>
        <p:spPr>
          <a:xfrm>
            <a:off x="8832629" y="2368252"/>
            <a:ext cx="12700" cy="1940024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4301927"/>
            <a:ext cx="2743131" cy="12700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3346366" y="4308277"/>
            <a:ext cx="12700" cy="1940123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6" name="Shape 24"/>
          <p:cNvSpPr/>
          <p:nvPr/>
        </p:nvSpPr>
        <p:spPr>
          <a:xfrm>
            <a:off x="3352716" y="4301927"/>
            <a:ext cx="2743131" cy="12700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9498" y="4308277"/>
            <a:ext cx="12700" cy="1940123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4301927"/>
            <a:ext cx="2743131" cy="12700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29" name="Shape 27"/>
          <p:cNvSpPr/>
          <p:nvPr/>
        </p:nvSpPr>
        <p:spPr>
          <a:xfrm>
            <a:off x="8832629" y="4308277"/>
            <a:ext cx="12700" cy="1940123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30" name="Shape 28"/>
          <p:cNvSpPr/>
          <p:nvPr/>
        </p:nvSpPr>
        <p:spPr>
          <a:xfrm>
            <a:off x="8838979" y="4301927"/>
            <a:ext cx="2743131" cy="12700"/>
          </a:xfrm>
          <a:prstGeom prst="rect">
            <a:avLst/>
          </a:prstGeom>
          <a:solidFill>
            <a:srgbClr val="2B3A8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1409241"/>
            <a:ext cx="166782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03 · INVEST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893811"/>
            <a:ext cx="2743131" cy="284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Tách nhỏ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US-07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 để dễ phát triển và kiểm thử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4949968"/>
            <a:ext cx="274313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US-01 và US-02 độc lập, nhỏ gọn và dễ kiểm thử.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7093" y="0"/>
            <a:ext cx="7924602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2037" y="234950"/>
            <a:ext cx="2383274" cy="6388100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7" name="Text 5"/>
          <p:cNvSpPr/>
          <p:nvPr/>
        </p:nvSpPr>
        <p:spPr>
          <a:xfrm>
            <a:off x="5111622" y="850616"/>
            <a:ext cx="1164104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VẤN ĐỀ BAN ĐẦU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11622" y="1254284"/>
            <a:ext cx="1164104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US-07 ôm quá nhiều việc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11622" y="2953687"/>
            <a:ext cx="1164104" cy="196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Chụp ảnh, ghi km, xăng và ký điện tử, chưa đạt tiêu chí Small.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37708" y="234950"/>
            <a:ext cx="2383274" cy="6388100"/>
          </a:xfrm>
          <a:prstGeom prst="rect">
            <a:avLst/>
          </a:prstGeom>
          <a:solidFill>
            <a:srgbClr val="FBD0C0"/>
          </a:solidFill>
          <a:ln/>
        </p:spPr>
      </p:sp>
      <p:sp>
        <p:nvSpPr>
          <p:cNvPr id="11" name="Text 9"/>
          <p:cNvSpPr/>
          <p:nvPr/>
        </p:nvSpPr>
        <p:spPr>
          <a:xfrm>
            <a:off x="7647292" y="850616"/>
            <a:ext cx="177368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VIẾT LẠI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47292" y="1094343"/>
            <a:ext cx="1164104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Tập trung vào bàn giao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47292" y="2793746"/>
            <a:ext cx="1164104" cy="168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Chỉ chụp tối thiểu 6 góc ảnh và ghi nhận km, xăng khi giao xe.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73378" y="234950"/>
            <a:ext cx="2383373" cy="638810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82962" y="850616"/>
            <a:ext cx="177378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QUYẾT ĐỊNH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82962" y="1094343"/>
            <a:ext cx="1164204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Tách chữ ký điện tử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82962" y="2416616"/>
            <a:ext cx="1164204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Phần chữ ký điện tử trở thành một User Story riêng.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60834"/>
            <a:ext cx="309683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04 · ACCEPTANCE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45404"/>
            <a:ext cx="10972526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Acceptance Criteria biến User Story thành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điều kiện kiểm chứng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80965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012142"/>
            <a:ext cx="342891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US-01 — Tìm kiếm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585" y="3580154"/>
            <a:ext cx="342891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Hiển thị xe còn trống theo bộ lọc; thông báo rõ khi không có kết quả.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8" y="2480965"/>
            <a:ext cx="406390" cy="406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688" y="3012142"/>
            <a:ext cx="320032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US-02 — Giữ chỗ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495688" y="3580154"/>
            <a:ext cx="320032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Xe được ẩn khỏi kết quả sau khi giữ chỗ; cọc thành công; tự hủy và mở lại xe sau 30 phút quá hạn.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2480965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196" y="3012142"/>
            <a:ext cx="342891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US-07 — Bàn giao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153196" y="3580154"/>
            <a:ext cx="342891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Tải đủ tối thiểu 6 ảnh, km và xăng; ký điện tử cập nhật trạng thái; báo lỗi nếu thiếu ảnh.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260743" y="2480965"/>
            <a:ext cx="12700" cy="3767435"/>
          </a:xfrm>
          <a:prstGeom prst="rect">
            <a:avLst/>
          </a:prstGeom>
          <a:solidFill>
            <a:srgbClr val="2B3A80"/>
          </a:solidFill>
          <a:ln/>
        </p:spPr>
      </p:sp>
      <p:sp>
        <p:nvSpPr>
          <p:cNvPr id="14" name="Shape 9"/>
          <p:cNvSpPr/>
          <p:nvPr/>
        </p:nvSpPr>
        <p:spPr>
          <a:xfrm>
            <a:off x="7918252" y="2480965"/>
            <a:ext cx="12700" cy="3767435"/>
          </a:xfrm>
          <a:prstGeom prst="rect">
            <a:avLst/>
          </a:prstGeom>
          <a:solidFill>
            <a:srgbClr val="2B3A8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3361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DoD bảo đảm mọi User Story hoàn thành đúng chuẩn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314891"/>
            <a:ext cx="109725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EE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AC: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yêu cầu nghiệp vụ cụ thể của từng User Story.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EE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DoD: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tiêu chuẩn kỹ thuật chung trước khi hoàn thành mọi User Story.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2042616"/>
            <a:ext cx="3581310" cy="2037755"/>
          </a:xfrm>
          <a:prstGeom prst="roundRect">
            <a:avLst>
              <a:gd name="adj" fmla="val 5983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2277566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4529" y="2798901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Code Review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4529" y="3295495"/>
            <a:ext cx="334636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Bởi ít nhất 1 thành viên.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291" y="2042616"/>
            <a:ext cx="3530512" cy="2037755"/>
          </a:xfrm>
          <a:prstGeom prst="roundRect">
            <a:avLst>
              <a:gd name="adj" fmla="val 5983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35" y="2277566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8235" y="2798901"/>
            <a:ext cx="30606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Kiểm chứng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78235" y="3295495"/>
            <a:ext cx="306062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Pass Acceptance Criteria, không còn lỗi Critical/Major.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26199" y="2042616"/>
            <a:ext cx="3555911" cy="2037755"/>
          </a:xfrm>
          <a:prstGeom prst="roundRect">
            <a:avLst>
              <a:gd name="adj" fmla="val 5983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143" y="2277566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1143" y="2798901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Responsive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61143" y="3295495"/>
            <a:ext cx="332096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Trên mobile và PC.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9585" y="4232771"/>
            <a:ext cx="3581310" cy="1757362"/>
          </a:xfrm>
          <a:prstGeom prst="roundRect">
            <a:avLst>
              <a:gd name="adj" fmla="val 693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9" y="4467721"/>
            <a:ext cx="40639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4529" y="4989056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Truy vết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44529" y="5485650"/>
            <a:ext cx="334636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Gắn đầy đủ mã FR/BR.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43291" y="4232771"/>
            <a:ext cx="7238819" cy="1757362"/>
          </a:xfrm>
          <a:prstGeom prst="roundRect">
            <a:avLst>
              <a:gd name="adj" fmla="val 693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235" y="4467721"/>
            <a:ext cx="406390" cy="406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8235" y="4989056"/>
            <a:ext cx="676893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Nghiệm thu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578235" y="5485650"/>
            <a:ext cx="700387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Deploy môi trường nội bộ và được Product Owner nghiệm thu.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82662"/>
            <a:ext cx="254430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06 · 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67232"/>
            <a:ext cx="10972526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MoSCoW tập trung MVP vào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BFEB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giá trị kinh doanh cốt lõi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3032720"/>
            <a:ext cx="2933627" cy="3825280"/>
          </a:xfrm>
          <a:prstGeom prst="roundRect">
            <a:avLst>
              <a:gd name="adj" fmla="val 4156"/>
            </a:avLst>
          </a:prstGeom>
          <a:solidFill>
            <a:srgbClr val="E6EE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648386"/>
            <a:ext cx="232404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MUST HAVE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3956202"/>
            <a:ext cx="1714457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37,5%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09585" y="4569063"/>
            <a:ext cx="171445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US-01, US-02, US-07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5374227"/>
            <a:ext cx="1714457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Tìm xe nhanh, chống trùng đơn, giảm tranh chấp.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86023" y="3032720"/>
            <a:ext cx="2933627" cy="3825280"/>
          </a:xfrm>
          <a:prstGeom prst="roundRect">
            <a:avLst>
              <a:gd name="adj" fmla="val 4156"/>
            </a:avLst>
          </a:prstGeom>
          <a:solidFill>
            <a:srgbClr val="FBD0C0"/>
          </a:solidFill>
          <a:ln/>
        </p:spPr>
      </p:sp>
      <p:sp>
        <p:nvSpPr>
          <p:cNvPr id="10" name="Text 8"/>
          <p:cNvSpPr/>
          <p:nvPr/>
        </p:nvSpPr>
        <p:spPr>
          <a:xfrm>
            <a:off x="3695608" y="3648386"/>
            <a:ext cx="232404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SHOULD HAVE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95608" y="3894971"/>
            <a:ext cx="171445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US-03, US-05, US-06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608" y="4700135"/>
            <a:ext cx="1714457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Tăng thông tin, trực quan hóa lịch và phản hồi nhanh.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046" y="3032720"/>
            <a:ext cx="2933627" cy="3825280"/>
          </a:xfrm>
          <a:prstGeom prst="roundRect">
            <a:avLst>
              <a:gd name="adj" fmla="val 4156"/>
            </a:avLst>
          </a:prstGeom>
          <a:solidFill>
            <a:srgbClr val="FFE7A8"/>
          </a:solidFill>
          <a:ln/>
        </p:spPr>
      </p:sp>
      <p:sp>
        <p:nvSpPr>
          <p:cNvPr id="14" name="Text 12"/>
          <p:cNvSpPr/>
          <p:nvPr/>
        </p:nvSpPr>
        <p:spPr>
          <a:xfrm>
            <a:off x="6781630" y="3648386"/>
            <a:ext cx="232404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COULD HAVE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81630" y="3894971"/>
            <a:ext cx="171445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81630" y="4391565"/>
            <a:ext cx="1714457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Xử lý tất toán nâng cao; giai đoạn đầu vẫn hỗ trợ thủ công.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58068" y="3032720"/>
            <a:ext cx="2933627" cy="3825280"/>
          </a:xfrm>
          <a:prstGeom prst="roundRect">
            <a:avLst>
              <a:gd name="adj" fmla="val 4156"/>
            </a:avLst>
          </a:prstGeom>
          <a:solidFill>
            <a:srgbClr val="D9EDB0"/>
          </a:solidFill>
          <a:ln/>
        </p:spPr>
      </p:sp>
      <p:sp>
        <p:nvSpPr>
          <p:cNvPr id="18" name="Text 16"/>
          <p:cNvSpPr/>
          <p:nvPr/>
        </p:nvSpPr>
        <p:spPr>
          <a:xfrm>
            <a:off x="9867653" y="3648386"/>
            <a:ext cx="232404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WON’T HAVE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67653" y="3894971"/>
            <a:ext cx="171445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US-04 trong MVP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67653" y="4700135"/>
            <a:ext cx="1714457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Nhập kho thủ công cho 30 cửa hàng đầu tiên để kiểm soát chất lượng.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843892"/>
            <a:ext cx="215964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07 · ESTIMATION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328463"/>
            <a:ext cx="2346961" cy="341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Story Point: độ phức tạp tăng theo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rủi ro xử lý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4954532"/>
            <a:ext cx="234696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Mốc chuẩn: US-01 = 3 điểm. Sử dụng dãy Fibonacci để ước lượng tương đối.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70823" y="0"/>
            <a:ext cx="8320872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6758" y="615950"/>
            <a:ext cx="203195" cy="1219200"/>
          </a:xfrm>
          <a:prstGeom prst="roundRect">
            <a:avLst>
              <a:gd name="adj" fmla="val 5625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3148" y="819150"/>
            <a:ext cx="668261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3 điểm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3148" y="1249561"/>
            <a:ext cx="668261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US-01, US-03, US-04, US-06.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91550" y="2038350"/>
            <a:ext cx="203195" cy="1397595"/>
          </a:xfrm>
          <a:prstGeom prst="roundRect">
            <a:avLst>
              <a:gd name="adj" fmla="val 5625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7940" y="2241550"/>
            <a:ext cx="637782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5 điểm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97940" y="2671961"/>
            <a:ext cx="637782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US-02 với bộ đếm 30 phút, tự hủy đơn và mở khóa xe; US-05 với lịch tuần trực quan.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6343" y="3639145"/>
            <a:ext cx="203195" cy="1397595"/>
          </a:xfrm>
          <a:prstGeom prst="roundRect">
            <a:avLst>
              <a:gd name="adj" fmla="val 5625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2733" y="3842345"/>
            <a:ext cx="607302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8 điểm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02733" y="4272756"/>
            <a:ext cx="607302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US-08 vì phải đối chiếu ảnh trước/sau và tính phí phát sinh theo quy tắc.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882" y="660834"/>
            <a:ext cx="184671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08 · SPRINT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45404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Sprint 1: hoàn thiện luồng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tìm xe và giữ chỗ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844377"/>
            <a:ext cx="10972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Sprint Goal: Xây dựng luồng cốt lõi giúp khách tìm xe trống và đặt giữ chỗ thành công trong phiên bản đầu tiên.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4585692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454F87"/>
          </a:solidFill>
          <a:ln/>
        </p:spPr>
      </p:sp>
      <p:sp>
        <p:nvSpPr>
          <p:cNvPr id="6" name="Shape 4"/>
          <p:cNvSpPr/>
          <p:nvPr/>
        </p:nvSpPr>
        <p:spPr>
          <a:xfrm>
            <a:off x="2713565" y="3976092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  <a:ln/>
        </p:spPr>
      </p:sp>
      <p:sp>
        <p:nvSpPr>
          <p:cNvPr id="7" name="Shape 5"/>
          <p:cNvSpPr/>
          <p:nvPr/>
        </p:nvSpPr>
        <p:spPr>
          <a:xfrm>
            <a:off x="2499258" y="4357092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5456" y="4430266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60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80" y="2659856"/>
            <a:ext cx="38301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Sprint Backlog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780" y="3090267"/>
            <a:ext cx="3830145" cy="68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950"/>
              </a:spcAft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US-01 (3), US-02 (5), US-03 (3), US-04 (3)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EE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Tổng 14 điểm.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8829" y="4585692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44522" y="4357092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0720" y="4430266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60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57994" y="5398492"/>
            <a:ext cx="383024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Capacity danh định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58044" y="5828903"/>
            <a:ext cx="383024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10 ngày × 6 giờ/ngày = 60 giờ.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04093" y="3976092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9786" y="4357092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5984" y="4430266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60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258" y="2659856"/>
            <a:ext cx="383024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Net Capacity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308" y="3090267"/>
            <a:ext cx="383024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54 giờ sau khi trừ thời gian họp và dự phòng.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49457" y="4585692"/>
            <a:ext cx="28574" cy="609600"/>
          </a:xfrm>
          <a:prstGeom prst="roundRect">
            <a:avLst>
              <a:gd name="adj" fmla="val 40000"/>
            </a:avLst>
          </a:prstGeom>
          <a:solidFill>
            <a:srgbClr val="454F8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149" y="4357092"/>
            <a:ext cx="457189" cy="457200"/>
          </a:xfrm>
          <a:prstGeom prst="roundRect">
            <a:avLst>
              <a:gd name="adj" fmla="val 2500"/>
            </a:avLst>
          </a:prstGeom>
          <a:solidFill>
            <a:srgbClr val="0D174F"/>
          </a:solidFill>
          <a:ln w="12700">
            <a:solidFill>
              <a:srgbClr val="454F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1348" y="4430266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60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548622" y="5398492"/>
            <a:ext cx="383024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Kết luận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48671" y="5828903"/>
            <a:ext cx="383024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Đáp ứng khối lượng Sprint Backlog.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2653" y="795093"/>
            <a:ext cx="5689458" cy="228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MotoGo MVP:</a:t>
            </a:r>
            <a:endParaRPr lang="en-US" sz="4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BFEB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quyết định rõ</a:t>
            </a:r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, giả định gọn, sẵn sàng triển khai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892653" y="3264495"/>
            <a:ext cx="2692333" cy="19050"/>
          </a:xfrm>
          <a:prstGeom prst="rect">
            <a:avLst/>
          </a:prstGeom>
          <a:solidFill>
            <a:srgbClr val="BFEBFF"/>
          </a:solidFill>
          <a:ln/>
        </p:spPr>
      </p:sp>
      <p:sp>
        <p:nvSpPr>
          <p:cNvPr id="4" name="Text 2"/>
          <p:cNvSpPr/>
          <p:nvPr/>
        </p:nvSpPr>
        <p:spPr>
          <a:xfrm>
            <a:off x="5892653" y="3423880"/>
            <a:ext cx="26923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Ba quyết định cốt lõi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92653" y="3920474"/>
            <a:ext cx="2692333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Duyệt GPLX thủ công qua ảnh; cố định thời gian giữ chỗ 30 phút; bắt buộc tối thiểu 6 góc ảnh khi bàn giao.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89778" y="3264495"/>
            <a:ext cx="2692333" cy="19050"/>
          </a:xfrm>
          <a:prstGeom prst="rect">
            <a:avLst/>
          </a:prstGeom>
          <a:solidFill>
            <a:srgbClr val="BFEBFF"/>
          </a:solidFill>
          <a:ln/>
        </p:spPr>
      </p:sp>
      <p:sp>
        <p:nvSpPr>
          <p:cNvPr id="7" name="Text 5"/>
          <p:cNvSpPr/>
          <p:nvPr/>
        </p:nvSpPr>
        <p:spPr>
          <a:xfrm>
            <a:off x="8889778" y="3423880"/>
            <a:ext cx="269233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Hai giả định MVP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89778" y="3920474"/>
            <a:ext cx="2692333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Chưa cho cửa hàng tự cấu hình cọc, áp dụng chuẩn chung BR-03; chưa làm chat nội bộ, dùng thông báo tự động kết hợp gọi điện.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92653" y="5500235"/>
            <a:ext cx="62990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spc="3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Ưu tiên luồng tạo giá trị trước, đo lường và cải tiến sau.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2653" y="5957253"/>
            <a:ext cx="629904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Trân trọng cảm ơn!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2026-10-27T15:16:22Z</dcterms:created>
  <dcterms:modified xsi:type="dcterms:W3CDTF">2026-10-27T15:16:22Z</dcterms:modified>
</cp:coreProperties>
</file>